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0341" y="2403127"/>
            <a:ext cx="10531316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00000"/>
                </a:solidFill>
                <a:latin typeface="Poppins"/>
              </a:rPr>
              <a:t>Diabetes Progression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3359348"/>
            <a:ext cx="5486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555555"/>
                </a:solidFill>
                <a:latin typeface="Lato"/>
              </a:rPr>
              <a:t>Data Science Methodology and Clinical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4362" y="4140398"/>
            <a:ext cx="33432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LINEAR REGRESSION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943225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45868" y="3267075"/>
            <a:ext cx="210026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Poppin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9487" y="3600450"/>
            <a:ext cx="51530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Defining clinical objectives and physiological 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2406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14625"/>
            <a:ext cx="156019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Poppins"/>
              </a:rPr>
              <a:t>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219450"/>
            <a:ext cx="14859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3381375"/>
            <a:ext cx="523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The primary goal is to predict a quantitative measure of </a:t>
            </a:r>
            <a:r>
              <a:rPr sz="1650" b="1" i="0" u="none">
                <a:solidFill>
                  <a:srgbClr val="333333"/>
                </a:solidFill>
                <a:latin typeface="Lato"/>
              </a:rPr>
              <a:t>disease progression one year after baseline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00525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By analyzing patient measurement data, we identify key risk factors and establish a reliable statistical baseline for healthcare providers.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33587"/>
            <a:ext cx="2362200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Predictive Clinical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43175"/>
          <a:ext cx="11048999" cy="296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45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Lato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Lato"/>
                        </a:rPr>
                        <a:t>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Lato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Demographics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Age, Sex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Normalized baseline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Physical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BMI, Blood Pressure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Core physical measurements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Serum Markers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s1, s2, s3, s4, s5, s6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Six blood serum lab results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Sample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442 Patients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0000"/>
                          </a:solidFill>
                          <a:latin typeface="Lato"/>
                        </a:rPr>
                        <a:t>Validated clinical cohort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748087"/>
            <a:ext cx="2742307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13807" y="3748087"/>
            <a:ext cx="34596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73465" y="3748087"/>
            <a:ext cx="4847034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329112"/>
            <a:ext cx="2742307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13807" y="4329112"/>
            <a:ext cx="34596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73465" y="4329112"/>
            <a:ext cx="4847034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910137"/>
            <a:ext cx="2742307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3807" y="4910137"/>
            <a:ext cx="34596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73465" y="4910137"/>
            <a:ext cx="4847034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491162"/>
            <a:ext cx="2742307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3807" y="5491162"/>
            <a:ext cx="34596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73465" y="5491162"/>
            <a:ext cx="4847034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Dataset Feature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943225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90799" y="3267075"/>
            <a:ext cx="321040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Poppins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6687" y="3600450"/>
            <a:ext cx="42386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Uncovering statistical relationships and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7750" y="2943225"/>
            <a:ext cx="10572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Clean Data Ingestion: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 Verification of 442 samples across 10 validated clinical columns with zero missing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3495675"/>
            <a:ext cx="10572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Normalized Scale: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 Features are mean-centered and scaled by standard deviation times the square root of n_samples.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4362450"/>
            <a:ext cx="10572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Target Range: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 One-year progression scores range from a minimum of 25 to a maximum of 346.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6087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38537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05312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Statistical Data Profiling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2406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71787"/>
            <a:ext cx="185023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Poppins"/>
              </a:rPr>
              <a:t>Key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376612"/>
            <a:ext cx="1762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3538537"/>
            <a:ext cx="523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BMI (0.59)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 and </a:t>
            </a:r>
            <a:r>
              <a:rPr sz="1650" b="1" i="0" u="none">
                <a:solidFill>
                  <a:srgbClr val="333333"/>
                </a:solidFill>
                <a:latin typeface="Lato"/>
              </a:rPr>
              <a:t>Serum_s5 (0.57)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 show the highest positive correlation with disease progression.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357687"/>
            <a:ext cx="523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Serum_s3 (-0.39)</a:t>
            </a:r>
            <a:r>
              <a:rPr sz="1650" b="0" i="0" u="none">
                <a:solidFill>
                  <a:srgbClr val="333333"/>
                </a:solidFill>
                <a:latin typeface="Lato"/>
              </a:rPr>
              <a:t> exhibits a notable inverse relationship, serving as a significant negative clinical indicator.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33587"/>
            <a:ext cx="5219700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Feature Correlation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943225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50856" y="3267075"/>
            <a:ext cx="229028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Poppins"/>
              </a:rPr>
              <a:t>Predictive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8625" y="3600450"/>
            <a:ext cx="3714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Linear Regression training and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862512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1" u="none">
                <a:solidFill>
                  <a:srgbClr val="333333"/>
                </a:solidFill>
                <a:latin typeface="Lato"/>
              </a:rPr>
              <a:t>The model captures approximately 45% of the variance in disease progression based on baseline clinical markers.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150" y="2681287"/>
            <a:ext cx="21526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0" b="1" i="0" u="none">
                <a:solidFill>
                  <a:srgbClr val="000000"/>
                </a:solidFill>
                <a:latin typeface="Poppins"/>
              </a:rPr>
              <a:t>0.45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6150" y="4110037"/>
            <a:ext cx="21526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66666"/>
                </a:solidFill>
                <a:latin typeface="Lato"/>
              </a:rPr>
              <a:t>R-SQUARED (R²)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101" y="2681287"/>
            <a:ext cx="21907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0" b="1" i="0" u="none">
                <a:solidFill>
                  <a:srgbClr val="000000"/>
                </a:solidFill>
                <a:latin typeface="Poppins"/>
              </a:rPr>
              <a:t>42.8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101" y="4110037"/>
            <a:ext cx="2190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66666"/>
                </a:solidFill>
                <a:latin typeface="Lato"/>
              </a:rPr>
              <a:t>MEAN ABS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151" y="2681287"/>
            <a:ext cx="20574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0" b="1" i="0" u="none">
                <a:solidFill>
                  <a:srgbClr val="000000"/>
                </a:solidFill>
                <a:latin typeface="Poppins"/>
              </a:rPr>
              <a:t>53.9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8151" y="4110037"/>
            <a:ext cx="20574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66666"/>
                </a:solidFill>
                <a:latin typeface="Lato"/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Model Performance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2406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71787"/>
            <a:ext cx="3490436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Poppins"/>
              </a:rPr>
              <a:t>Regression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376612"/>
            <a:ext cx="33242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3538537"/>
            <a:ext cx="523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The visual analysis of the validation set shows consistent predictive power across the score spectrum.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357687"/>
            <a:ext cx="523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Data points cluster around the identity line, confirming the model's reliability for general progression trends.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33587"/>
            <a:ext cx="5219700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Actual vs. Predicted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0275"/>
            <a:ext cx="3492549" cy="3457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00275"/>
            <a:ext cx="3492549" cy="3457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00275"/>
            <a:ext cx="3492549" cy="3457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7604" y="3333750"/>
            <a:ext cx="154019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00000"/>
                </a:solidFill>
                <a:latin typeface="Poppins"/>
              </a:rPr>
              <a:t>Serum s5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4275" y="3838575"/>
            <a:ext cx="14668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3325" y="4000500"/>
            <a:ext cx="1428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Impact: +736.2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514850"/>
            <a:ext cx="2692449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333333"/>
                </a:solidFill>
                <a:latin typeface="Lato"/>
              </a:rPr>
              <a:t>Highly significant positive clinical marker for progression.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0961" y="3333750"/>
            <a:ext cx="610076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00000"/>
                </a:solidFill>
                <a:latin typeface="Poppins"/>
              </a:rPr>
              <a:t>BMI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5487" y="3838575"/>
            <a:ext cx="5810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81625" y="4000500"/>
            <a:ext cx="1428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Impact: +542.4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3432" y="4514850"/>
            <a:ext cx="2692449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333333"/>
                </a:solidFill>
                <a:latin typeface="Lato"/>
              </a:rPr>
              <a:t>Primary physical indicator with strong linear predictive weight.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9208" y="3333750"/>
            <a:ext cx="145018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00000"/>
                </a:solidFill>
                <a:latin typeface="Poppins"/>
              </a:rPr>
              <a:t>Serum s1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3737" y="3838575"/>
            <a:ext cx="1381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3737" y="4000500"/>
            <a:ext cx="13811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0" u="none">
                <a:solidFill>
                  <a:srgbClr val="333333"/>
                </a:solidFill>
                <a:latin typeface="Lato"/>
              </a:rPr>
              <a:t>Impact: -931.5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8149" y="4521777"/>
            <a:ext cx="2692449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333333"/>
                </a:solidFill>
                <a:latin typeface="Lato"/>
              </a:rPr>
              <a:t>Strongest negative coefficient, suggesting a protective role.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675" y="2647950"/>
            <a:ext cx="40005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2647950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49" y="2647950"/>
            <a:ext cx="5715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Poppins"/>
              </a:rPr>
              <a:t>Top Clinical Determinants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943225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45868" y="3267075"/>
            <a:ext cx="210026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 smtClean="0">
                <a:solidFill>
                  <a:srgbClr val="000000"/>
                </a:solidFill>
                <a:latin typeface="Poppins"/>
              </a:rPr>
              <a:t>THANK YOU </a:t>
            </a:r>
            <a:endParaRPr sz="1800" b="1" i="0" u="none" dirty="0">
              <a:solidFill>
                <a:srgbClr val="000000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320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341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2026-07-14T11:25:08Z</dcterms:modified>
  <cp:category/>
</cp:coreProperties>
</file>